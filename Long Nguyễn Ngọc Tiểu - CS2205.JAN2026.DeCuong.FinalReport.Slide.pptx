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4E3F6BE-8037-4597-A2D1-FDCD17C35A38}">
  <a:tblStyle styleId="{04E3F6BE-8037-4597-A2D1-FDCD17C35A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d8a3913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0d8a3913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d8a3913ea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d8a3913ea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5fe14d3b49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5fe14d3b49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3f376a43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3f376a43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d8a3913ea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0d8a3913ea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d8a3913ea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0d8a3913ea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3f376a43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3f376a434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3f376a434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3f376a434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0d8a3913ea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0d8a3913ea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0d8a3913ea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0d8a3913ea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R01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R01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R01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rot="10800000" flipH="1">
            <a:off x="0" y="728400"/>
            <a:ext cx="9144000" cy="408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711888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 sz="2200">
                <a:solidFill>
                  <a:srgbClr val="000000"/>
                </a:solidFill>
              </a:defRPr>
            </a:lvl1pPr>
            <a:lvl2pPr marL="914400" lvl="1" indent="-355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  <a:defRPr sz="2000">
                <a:solidFill>
                  <a:srgbClr val="000000"/>
                </a:solidFill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 sz="1800">
                <a:solidFill>
                  <a:srgbClr val="000000"/>
                </a:solidFill>
              </a:defRPr>
            </a:lvl3pPr>
            <a:lvl4pPr marL="1828800" lvl="3" indent="-330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>
                <a:solidFill>
                  <a:srgbClr val="000000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523550" y="4813799"/>
            <a:ext cx="548700" cy="27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471900" y="4803525"/>
            <a:ext cx="81333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UIT.CS2205.ResearchMethodology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1"/>
          </p:nvPr>
        </p:nvSpPr>
        <p:spPr>
          <a:xfrm>
            <a:off x="57150" y="41634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xcentralnn/uit-ppnckh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460950" y="10199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/>
              <a:t>CẢI THIỆN ĐỘ CHÍNH XÁC PHÁT HIỆN BẤT THƯỜNG TRÊN KUBERNETES BẰNG ISOLATION FOREST VỚI HUẤN LUYỆN LẶP VÀ CÂN BẰNG DỮ LIỆU </a:t>
            </a:r>
            <a:endParaRPr sz="3000" b="1"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1411225" y="2942825"/>
            <a:ext cx="6645000" cy="150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Học viên thực hiện:</a:t>
            </a:r>
            <a:r>
              <a:rPr lang="en" sz="1600"/>
              <a:t> Nguyễn Ngọc Tiểu Long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Mã số học viên:</a:t>
            </a:r>
            <a:r>
              <a:rPr lang="en" sz="1600"/>
              <a:t> 250202047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Môn học:</a:t>
            </a:r>
            <a:r>
              <a:rPr lang="en" sz="1600"/>
              <a:t> CS2205 - Research Methodology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Đơn vị:</a:t>
            </a:r>
            <a:r>
              <a:rPr lang="en" sz="1600"/>
              <a:t> Trường Đại học Công nghệ Thông tin, ĐHQG-HCM</a:t>
            </a:r>
            <a:endParaRPr sz="1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b="1"/>
              <a:t>TÓM TẮT </a:t>
            </a:r>
            <a:endParaRPr sz="2900"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/>
              <a:t>Lớp:</a:t>
            </a:r>
            <a:r>
              <a:rPr lang="en" sz="1300" dirty="0"/>
              <a:t> CS2205.JAN2026</a:t>
            </a:r>
            <a:endParaRPr sz="13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n" sz="1300" b="1" dirty="0"/>
              <a:t>Link Github:</a:t>
            </a:r>
            <a:r>
              <a:rPr lang="en" sz="1300" dirty="0"/>
              <a:t> </a:t>
            </a:r>
            <a:r>
              <a:rPr lang="en-US" sz="1300" i="1">
                <a:hlinkClick r:id="rId3"/>
              </a:rPr>
              <a:t>https://github.com/xcentralnn/uit-ppnckh</a:t>
            </a:r>
            <a:endParaRPr lang="en-US" sz="1300" i="1"/>
          </a:p>
          <a:p>
            <a:pPr marL="0" lvl="0" indent="0">
              <a:spcBef>
                <a:spcPts val="1600"/>
              </a:spcBef>
              <a:buNone/>
            </a:pPr>
            <a:r>
              <a:rPr lang="en" sz="1300" b="1"/>
              <a:t>Thành </a:t>
            </a:r>
            <a:r>
              <a:rPr lang="en" sz="1300" b="1" dirty="0"/>
              <a:t>viên thực hiện:</a:t>
            </a:r>
            <a:endParaRPr sz="1300" b="1" dirty="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 dirty="0"/>
              <a:t>Nguyễn Ngọc Tiểu Long (MSHV: 250202047) </a:t>
            </a:r>
          </a:p>
          <a:p>
            <a:pPr marL="146050" lvl="0" indent="0" algn="l" rtl="0">
              <a:spcBef>
                <a:spcPts val="1600"/>
              </a:spcBef>
              <a:spcAft>
                <a:spcPts val="0"/>
              </a:spcAft>
              <a:buSzPts val="1300"/>
              <a:buNone/>
            </a:pPr>
            <a:endParaRPr sz="1300" i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 dirty="0"/>
              <a:t>Bài toán cốt lõi:</a:t>
            </a:r>
            <a:r>
              <a:rPr lang="en" sz="1300" dirty="0"/>
              <a:t> * Sự mất cân bằng dữ liệu Metric Prometheus nghiêm trọng (mẫu bất thường &lt; 2%).</a:t>
            </a:r>
            <a:endParaRPr sz="1300" dirty="0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Font typeface="Roboto"/>
              <a:buChar char="●"/>
            </a:pPr>
            <a:r>
              <a:rPr lang="en" sz="1300" dirty="0"/>
              <a:t>Hiện tượng Concept Drift gây tỷ lệ False Positive (báo động giả) cao trong vận hành SOC.</a:t>
            </a:r>
            <a:endParaRPr sz="13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1" dirty="0"/>
              <a:t>Giải pháp đề xuất:</a:t>
            </a:r>
            <a:r>
              <a:rPr lang="en" sz="1300" dirty="0"/>
              <a:t> Kết hợp Isolation Forest (IF) với quy trình huấn luyện lặp 5 giai đoạn (St1-St5) và kỹ thuật cân bằng dữ liệu SMOTE nhằm cải thiện độ chính xác mà không tốn tài nguyên.</a:t>
            </a:r>
            <a:endParaRPr sz="1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/>
              <a:t>Từ khóa:</a:t>
            </a:r>
            <a:r>
              <a:rPr lang="en" sz="1300" dirty="0"/>
              <a:t> Kubernetes, Isolation Forest, Anomaly Detection, SMOTE, Concept Drift, Iterative Training.</a:t>
            </a:r>
            <a:endParaRPr sz="1300" dirty="0"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400" dirty="0"/>
          </a:p>
        </p:txBody>
      </p:sp>
      <p:pic>
        <p:nvPicPr>
          <p:cNvPr id="74" name="Google Shape;74;p14" title="IMG_045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0975" y="870276"/>
            <a:ext cx="1399251" cy="2098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471900" y="57875"/>
            <a:ext cx="86721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b="1"/>
              <a:t>GIỚI THIỆU  - TỔNG QUAN &amp; LÝ DO CHỌN ĐỀ TÀI </a:t>
            </a:r>
            <a:endParaRPr sz="2900"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/>
              <a:t>Bối cảnh hạ tầng:</a:t>
            </a:r>
            <a:r>
              <a:rPr lang="en" sz="1400"/>
              <a:t> * Kubernetes (K8s) hiện là tiêu chuẩn để điều phối microservices.</a:t>
            </a:r>
            <a:endParaRPr sz="14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Giám sát thời gian thực dựa trên chỉ số (metrics-based monitoring) qua Prometheus đóng vai trò then chốt trong an ninh và vận hành hệ thống.</a:t>
            </a:r>
            <a:endParaRPr sz="14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/>
              <a:t>Đặc tính dữ liệu an ninh:</a:t>
            </a:r>
            <a:r>
              <a:rPr lang="en" sz="1400"/>
              <a:t> Dữ liệu dạng metrics của K8s thường mang tính chất thưa thớt (sparse), mất cân bằng (imbalanced) và phân phối đuôi dài (heavy-tailed).</a:t>
            </a:r>
            <a:endParaRPr sz="14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/>
              <a:t>Tính cấp thiết:</a:t>
            </a:r>
            <a:r>
              <a:rPr lang="en" sz="1400"/>
              <a:t> Phân tích chính xác dữ liệu metrics giúp phát hiện sớm sự cố/tấn công, ngăn chặn kịp thời các rủi ro hệ thống.</a:t>
            </a:r>
            <a:endParaRPr sz="1400"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471900" y="57875"/>
            <a:ext cx="84555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b="1"/>
              <a:t>TỔNG HỢP NGHIÊN CỨU &amp; PHÂN TÍCH HẠN CHẾ </a:t>
            </a:r>
            <a:endParaRPr sz="290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Nghiên cứu liên quan (Trương Thị Thanh Ngân, 2025):</a:t>
            </a:r>
            <a:endParaRPr sz="1400" b="1"/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Ứng dụng Isolation Forest (IF) trên tập mẫu K8s (1,200 điểm) đạt Precision ~81%.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/>
              <a:t>Ưu điểm của IF:</a:t>
            </a:r>
            <a:r>
              <a:rPr lang="en" sz="1400"/>
              <a:t> "Lightweight" (nhẹ), tiết kiệm tài nguyên CPU/RAM vượt trội so với các mô hình Deep Learning trong môi trường container.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/>
              <a:t>Các hạn chế lớn của giải pháp hiện tại:</a:t>
            </a:r>
            <a:endParaRPr sz="1400" b="1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" sz="1400" b="1"/>
              <a:t>Mất cân bằng dữ liệu:</a:t>
            </a:r>
            <a:r>
              <a:rPr lang="en" sz="1400"/>
              <a:t> Tỷ lệ bất thường quá thấp (1%–2%) khiến IF dễ thiên lệch về phía mẫu bình thường, làm giảm Precision của nhóm anomaly.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" sz="1400" b="1"/>
              <a:t>Concept Drift:</a:t>
            </a:r>
            <a:r>
              <a:rPr lang="en" sz="1400"/>
              <a:t> Workload và cấu hình mạng K8s thay đổi liên tục, khiến mô hình cũ nhanh chóng bị lỗi thời khi cluster nâng cấp hoặc đổi cấu hình.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" sz="1400" b="1"/>
              <a:t>Điểm mù hệ thống:</a:t>
            </a:r>
            <a:r>
              <a:rPr lang="en" sz="1400"/>
              <a:t> Thường bỏ qua tín hiệu System Logs, dễ sót các hành vi tinh vi (nhứ Lateral Movement).</a:t>
            </a:r>
            <a:endParaRPr sz="1400"/>
          </a:p>
          <a:p>
            <a:pPr marL="91440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5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NGUYÊN CỨU TRỐNG &amp; MỤC TIÊU </a:t>
            </a: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Research Gap:</a:t>
            </a:r>
            <a:r>
              <a:rPr lang="en" sz="1400"/>
              <a:t> Chưa có công trình nào kết hợp đồng thời quy trình </a:t>
            </a:r>
            <a:r>
              <a:rPr lang="en" sz="1400" b="1"/>
              <a:t>huấn luyện lặp 5 giai đoạn (St1–St5)</a:t>
            </a:r>
            <a:r>
              <a:rPr lang="en" sz="1400"/>
              <a:t> cùng </a:t>
            </a:r>
            <a:r>
              <a:rPr lang="en" sz="1400" b="1"/>
              <a:t>kỹ thuật cân bằng dữ liệu (SMOTE)</a:t>
            </a:r>
            <a:r>
              <a:rPr lang="en" sz="1400"/>
              <a:t> cho Isolation Forest trên Kubernetes để giải quyết đồng bộ bài toán mất cân bằng và drift dữ liệu.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 b="1"/>
              <a:t>Mục tiêu định lượng cụ thể:</a:t>
            </a:r>
            <a:endParaRPr sz="1400" b="1"/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/>
              <a:t>Độ chính xác:</a:t>
            </a:r>
            <a:r>
              <a:rPr lang="en" sz="1400"/>
              <a:t> Đạt Precision </a:t>
            </a:r>
            <a:r>
              <a:rPr lang="en" sz="1400" b="1"/>
              <a:t>≥ 92%</a:t>
            </a:r>
            <a:r>
              <a:rPr lang="en" sz="1400"/>
              <a:t> bằng Robust Statistics (tăng ít nhất 4 điểm % so với IF cơ bản).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/>
              <a:t>Hiệu quả hội tụ:</a:t>
            </a:r>
            <a:r>
              <a:rPr lang="en" sz="1400"/>
              <a:t> Tăng chỉ số F1-score tối thiểu </a:t>
            </a:r>
            <a:r>
              <a:rPr lang="en" sz="1400" b="1"/>
              <a:t>15%</a:t>
            </a:r>
            <a:r>
              <a:rPr lang="en" sz="1400"/>
              <a:t> (từ ~0.75 lên </a:t>
            </a:r>
            <a:r>
              <a:rPr lang="en" sz="1400" b="1"/>
              <a:t>≥ 0.86</a:t>
            </a:r>
            <a:r>
              <a:rPr lang="en" sz="1400"/>
              <a:t>).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/>
              <a:t>Độ trễ suy luận:</a:t>
            </a:r>
            <a:r>
              <a:rPr lang="en" sz="1400"/>
              <a:t> Duy trì </a:t>
            </a:r>
            <a:r>
              <a:rPr lang="en" sz="1400" b="1"/>
              <a:t>&lt; 15ms/request</a:t>
            </a:r>
            <a:r>
              <a:rPr lang="en" sz="1400"/>
              <a:t> đáp ứng giám sát thời gian thực (Real-time monitoring).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0" y="57875"/>
            <a:ext cx="9101700" cy="61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/>
              <a:t>NỘI DUNG &amp; PHƯƠNG PHÁP  - TIỀN XỬ LÝ VÀ DATASET </a:t>
            </a:r>
            <a:endParaRPr sz="2700"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Nguồn dữ liệu:</a:t>
            </a:r>
            <a:r>
              <a:rPr lang="en" sz="1400"/>
              <a:t> Thu thập từ Prometheus (Metrics L4/L7) và K8s Event Logs. Quy mô giả định: N ~ 10,000 điểm dữ liệu, gồm 10–20 chỉ số (CPU, Memory, I/O, Network...).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Chiến lược xử lý dữ liệu:</a:t>
            </a:r>
            <a:endParaRPr sz="1400" b="1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/>
              <a:t>Chuẩn hóa Robust:</a:t>
            </a:r>
            <a:r>
              <a:rPr lang="en" sz="1400"/>
              <a:t> Sử dụng </a:t>
            </a:r>
            <a:r>
              <a:rPr lang="en" sz="1400">
                <a:solidFill>
                  <a:srgbClr val="188038"/>
                </a:solidFill>
              </a:rPr>
              <a:t>RobustScaler</a:t>
            </a:r>
            <a:r>
              <a:rPr lang="en" sz="1400"/>
              <a:t> để xử lý dữ liệu đặc trưng heavy-tailed.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/>
              <a:t>Lấy mẫu lại cân bằng:</a:t>
            </a:r>
            <a:r>
              <a:rPr lang="en" sz="1400"/>
              <a:t> Áp dụng thuật toán </a:t>
            </a:r>
            <a:r>
              <a:rPr lang="en" sz="1400" b="1"/>
              <a:t>SMOTE</a:t>
            </a:r>
            <a:r>
              <a:rPr lang="en" sz="1400"/>
              <a:t> để nâng tỷ lệ mẫu bất thường lên </a:t>
            </a:r>
            <a:r>
              <a:rPr lang="en" sz="1400" b="1"/>
              <a:t>~10%</a:t>
            </a:r>
            <a:r>
              <a:rPr lang="en" sz="1400"/>
              <a:t> mà không phá vỡ cấu trúc thời gian.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/>
              <a:t>Kiểm soát rò rỉ dữ liệu (Data Leakage):</a:t>
            </a:r>
            <a:r>
              <a:rPr lang="en" sz="1400"/>
              <a:t> Áp dụng chiến lược “</a:t>
            </a:r>
            <a:r>
              <a:rPr lang="en" sz="1400" i="1"/>
              <a:t>Train on Past, Test on Future</a:t>
            </a:r>
            <a:r>
              <a:rPr lang="en" sz="1400"/>
              <a:t>” (Chia theo dòng thời gian: 70% dữ liệu cũ để Train, 30% dữ liệu mới để Test).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133650" y="57875"/>
            <a:ext cx="90105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b="1"/>
              <a:t>KIẾN TRÚC WORKFLOW ĐỀ XUẤT </a:t>
            </a:r>
            <a:endParaRPr sz="2900"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/>
              <a:t>Quy trình huấn luyện lặp 5 giai đoạn (St1-St5):</a:t>
            </a:r>
            <a:endParaRPr sz="1400" b="1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/>
              <a:t>St1 (Xử lý dữ liệu):</a:t>
            </a:r>
            <a:r>
              <a:rPr lang="en" sz="1400"/>
              <a:t> Tải dữ liệu, tiền xử lý (RobustScaler + SMOTE), chia tập Train/Test theo thời gian.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/>
              <a:t>St2 (Khởi tạo mô hình):</a:t>
            </a:r>
            <a:r>
              <a:rPr lang="en" sz="1400"/>
              <a:t> Huấn luyện mô hình Isolation Forest ban đầu với các tham số cấu hình ban đầu.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/>
              <a:t>St3 (Đánh giá &amp; Tinh chỉnh):</a:t>
            </a:r>
            <a:r>
              <a:rPr lang="en" sz="1400"/>
              <a:t> Đánh giá hiệu năng trên tập kiểm thử, điều chỉnh tham số động (ví dụ: tham số </a:t>
            </a:r>
            <a:r>
              <a:rPr lang="en" sz="1400">
                <a:solidFill>
                  <a:srgbClr val="188038"/>
                </a:solidFill>
              </a:rPr>
              <a:t>contamination</a:t>
            </a:r>
            <a:r>
              <a:rPr lang="en" sz="1400"/>
              <a:t>).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/>
              <a:t>St4 (Huấn luyện lại):</a:t>
            </a:r>
            <a:r>
              <a:rPr lang="en" sz="1400"/>
              <a:t> Tái huấn luyện mô hình IF dựa trên bộ tham số mới tối ưu hơn.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/>
              <a:t>St5 (Đánh giá cuối):</a:t>
            </a:r>
            <a:r>
              <a:rPr lang="en" sz="1400"/>
              <a:t> Đánh giá kiểm định cuối cùng, xuất mô hình tối ưu sẵn sàng triển khai thực tế.</a:t>
            </a:r>
            <a:endParaRPr sz="1400"/>
          </a:p>
          <a:p>
            <a:pPr marL="91440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4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133650" y="57875"/>
            <a:ext cx="90105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b="1"/>
              <a:t>MÔI TRƯỜNG THỰC NGHIỆM </a:t>
            </a:r>
            <a:endParaRPr sz="2900"/>
          </a:p>
        </p:txBody>
      </p:sp>
      <p:sp>
        <p:nvSpPr>
          <p:cNvPr id="110" name="Google Shape;110;p20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Cấu hình phần cứng:</a:t>
            </a:r>
            <a:endParaRPr sz="1400" b="1"/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CPU: Intel Core i7-12700K (8 cores) | RAM: 32GB | SSD: 512GB.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GPU hỗ trợ mở rộng dữ liệu: NVIDIA RTX 3060 12GB.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/>
              <a:t>Môi trường phần mềm &amp; Thư viện:</a:t>
            </a:r>
            <a:endParaRPr sz="1400" b="1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Hệ điều hành: Ubuntu 22.04 LTS | Ngôn ngữ: Python 3.9.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/>
              <a:t>Thư viện ML cốt lõi: </a:t>
            </a:r>
            <a:r>
              <a:rPr lang="en" sz="1400">
                <a:solidFill>
                  <a:srgbClr val="188038"/>
                </a:solidFill>
              </a:rPr>
              <a:t>scikit-learn==1.2.0</a:t>
            </a:r>
            <a:r>
              <a:rPr lang="en" sz="1400"/>
              <a:t> (</a:t>
            </a:r>
            <a:r>
              <a:rPr lang="en" sz="1400">
                <a:solidFill>
                  <a:srgbClr val="188038"/>
                </a:solidFill>
              </a:rPr>
              <a:t>IsolationForest</a:t>
            </a:r>
            <a:r>
              <a:rPr lang="en" sz="1400"/>
              <a:t>), </a:t>
            </a:r>
            <a:r>
              <a:rPr lang="en" sz="1400">
                <a:solidFill>
                  <a:srgbClr val="188038"/>
                </a:solidFill>
              </a:rPr>
              <a:t>pandas==1.5</a:t>
            </a:r>
            <a:r>
              <a:rPr lang="en" sz="1400"/>
              <a:t>, </a:t>
            </a:r>
            <a:r>
              <a:rPr lang="en" sz="1400">
                <a:solidFill>
                  <a:srgbClr val="188038"/>
                </a:solidFill>
              </a:rPr>
              <a:t>numpy==1.23</a:t>
            </a:r>
            <a:r>
              <a:rPr lang="en" sz="1400"/>
              <a:t>.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/>
              <a:t>Tính có thể tái lặp (Reproducibility):</a:t>
            </a:r>
            <a:endParaRPr sz="1400" b="1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/>
              <a:t>Thiết lập cố định </a:t>
            </a:r>
            <a:r>
              <a:rPr lang="en" sz="1400">
                <a:solidFill>
                  <a:srgbClr val="188038"/>
                </a:solidFill>
              </a:rPr>
              <a:t>random_state=42</a:t>
            </a:r>
            <a:r>
              <a:rPr lang="en" sz="1400"/>
              <a:t> cho toàn bộ các hàm khởi tạo IF và lấy mẫu dữ liệu.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Mã nguồn và dữ liệu mẫu được công bố công khai trên GitHub của nhóm.</a:t>
            </a:r>
            <a:endParaRPr sz="1400"/>
          </a:p>
          <a:p>
            <a:pPr marL="91440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4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Kết quả dự kiến</a:t>
            </a:r>
            <a:endParaRPr/>
          </a:p>
        </p:txBody>
      </p:sp>
      <p:graphicFrame>
        <p:nvGraphicFramePr>
          <p:cNvPr id="116" name="Google Shape;116;p21"/>
          <p:cNvGraphicFramePr/>
          <p:nvPr/>
        </p:nvGraphicFramePr>
        <p:xfrm>
          <a:off x="68400" y="827925"/>
          <a:ext cx="9029075" cy="3351075"/>
        </p:xfrm>
        <a:graphic>
          <a:graphicData uri="http://schemas.openxmlformats.org/drawingml/2006/table">
            <a:tbl>
              <a:tblPr>
                <a:noFill/>
                <a:tableStyleId>{04E3F6BE-8037-4597-A2D1-FDCD17C35A38}</a:tableStyleId>
              </a:tblPr>
              <a:tblGrid>
                <a:gridCol w="20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5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4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Chỉ số hiệu năng</a:t>
                      </a:r>
                      <a:endParaRPr sz="10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IF cơ sở (Baseline)</a:t>
                      </a:r>
                      <a:endParaRPr sz="10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Mô hình đề xuất (Mục tiêu)</a:t>
                      </a:r>
                      <a:endParaRPr sz="10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Mức độ cải thiện</a:t>
                      </a:r>
                      <a:endParaRPr sz="10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Precision</a:t>
                      </a:r>
                      <a:endParaRPr sz="10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~81%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≥ 92%</a:t>
                      </a:r>
                      <a:endParaRPr sz="10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+11 điểm 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F1-Score</a:t>
                      </a:r>
                      <a:endParaRPr sz="10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~0.75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≥ 0.86</a:t>
                      </a:r>
                      <a:endParaRPr sz="10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+15%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False Positive Rate</a:t>
                      </a:r>
                      <a:endParaRPr sz="10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Cao (Gây nhiễu)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Giảm đáng kể</a:t>
                      </a:r>
                      <a:endParaRPr sz="10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Hạn chế báo động giả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1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Độ trễ suy luận</a:t>
                      </a:r>
                      <a:endParaRPr sz="10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—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0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&lt; 15ms/request</a:t>
                      </a:r>
                      <a:endParaRPr sz="10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Đảm bảo Real-time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14300" marR="114300" marT="76200" marB="76200">
                    <a:lnL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C4C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7" name="Google Shape;117;p21"/>
          <p:cNvSpPr txBox="1"/>
          <p:nvPr/>
        </p:nvSpPr>
        <p:spPr>
          <a:xfrm>
            <a:off x="0" y="4021350"/>
            <a:ext cx="87555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Kết quả định tính:</a:t>
            </a:r>
            <a:r>
              <a:rPr lang="en" dirty="0">
                <a:latin typeface="Roboto"/>
                <a:ea typeface="Roboto"/>
                <a:cs typeface="Roboto"/>
                <a:sym typeface="Roboto"/>
              </a:rPr>
              <a:t> Quy trình lặp giúp mô hình tự thích nghi linh hoạt với hiện tượng Concept Drift khi K8s thay đổi workload theo thời gian.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50700" y="57875"/>
            <a:ext cx="90342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b="1"/>
              <a:t>TÀI LIỆU THAM KHẢO &amp; HƯỚNG PHÁT TRIỂN </a:t>
            </a:r>
            <a:endParaRPr sz="2900"/>
          </a:p>
        </p:txBody>
      </p:sp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/>
              <a:t>Hạn chế &amp; Hướng phát triển:</a:t>
            </a:r>
            <a:endParaRPr sz="1400" b="1"/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 i="1"/>
              <a:t>Mở rộng:</a:t>
            </a:r>
            <a:r>
              <a:rPr lang="en" sz="1400"/>
              <a:t> Tích hợp sâu System Logs để bắt các kịch bản tấn công chuỗi tinh vi (Lateral Movement).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 i="1"/>
              <a:t>Thực nghiệm kế tiếp:</a:t>
            </a:r>
            <a:r>
              <a:rPr lang="en" sz="1400"/>
              <a:t> Nghiên cứu xử lý "unlimited proxy body size" ở tầng Gateway (như Kong Gateway API) trong các môi trường triển khai thực tế khác.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/>
              <a:t>Tài liệu tham khảo chính:</a:t>
            </a:r>
            <a:endParaRPr sz="1400" b="1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[1] Fei Tony Liu, Kai Ming Ting, Zhi-Hua Zhou: </a:t>
            </a:r>
            <a:r>
              <a:rPr lang="en" sz="1400" i="1"/>
              <a:t>Isolation Forest</a:t>
            </a:r>
            <a:r>
              <a:rPr lang="en" sz="1400"/>
              <a:t>. ICDM 2008.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[2] Haibo He, Edwardo A. Garcia: </a:t>
            </a:r>
            <a:r>
              <a:rPr lang="en" sz="1400" i="1"/>
              <a:t>Learning from Imbalanced Data</a:t>
            </a:r>
            <a:r>
              <a:rPr lang="en" sz="1400"/>
              <a:t>. IEEE Trans. 2009.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[3] Trương Thị Thanh Ngân: </a:t>
            </a:r>
            <a:r>
              <a:rPr lang="en" sz="1400" i="1"/>
              <a:t>Anomaly Detection For Kubernetes Using Lightweight ML and Deep Learning Validation</a:t>
            </a:r>
            <a:r>
              <a:rPr lang="en" sz="1400"/>
              <a:t>. 2025.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/>
              <a:t>[4] Prometheus &amp; Kubernetes Authors Documentation (2024).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/>
          </a:p>
          <a:p>
            <a:pPr marL="9144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 - R01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1318</Words>
  <Application>Microsoft Office PowerPoint</Application>
  <PresentationFormat>On-screen Show (16:9)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Roboto</vt:lpstr>
      <vt:lpstr>Material - R01</vt:lpstr>
      <vt:lpstr>CẢI THIỆN ĐỘ CHÍNH XÁC PHÁT HIỆN BẤT THƯỜNG TRÊN KUBERNETES BẰNG ISOLATION FOREST VỚI HUẤN LUYỆN LẶP VÀ CÂN BẰNG DỮ LIỆU </vt:lpstr>
      <vt:lpstr>TÓM TẮT </vt:lpstr>
      <vt:lpstr>GIỚI THIỆU  - TỔNG QUAN &amp; LÝ DO CHỌN ĐỀ TÀI </vt:lpstr>
      <vt:lpstr>TỔNG HỢP NGHIÊN CỨU &amp; PHÂN TÍCH HẠN CHẾ </vt:lpstr>
      <vt:lpstr>NGUYÊN CỨU TRỐNG &amp; MỤC TIÊU </vt:lpstr>
      <vt:lpstr>NỘI DUNG &amp; PHƯƠNG PHÁP  - TIỀN XỬ LÝ VÀ DATASET </vt:lpstr>
      <vt:lpstr>KIẾN TRÚC WORKFLOW ĐỀ XUẤT </vt:lpstr>
      <vt:lpstr>MÔI TRƯỜNG THỰC NGHIỆM </vt:lpstr>
      <vt:lpstr>Kết quả dự kiến</vt:lpstr>
      <vt:lpstr>TÀI LIỆU THAM KHẢO &amp; HƯỚNG PHÁT TRIỂN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Central Nguyen</cp:lastModifiedBy>
  <cp:revision>2</cp:revision>
  <dcterms:modified xsi:type="dcterms:W3CDTF">2026-05-24T07:54:02Z</dcterms:modified>
</cp:coreProperties>
</file>